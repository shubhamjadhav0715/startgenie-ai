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365760" y="182880"/>
            <a:ext cx="11155680" cy="457200"/>
          </a:xfrm>
          <a:prstGeom prst="rect">
            <a:avLst/>
          </a:prstGeom>
          <a:noFill/>
          <a:ln/>
        </p:spPr>
        <p:txBody>
          <a:bodyPr wrap="square" rtlCol="0" anchor="ctr"/>
          <a:lstStyle/>
          <a:p>
            <a:pPr indent="0" marL="0">
              <a:buNone/>
            </a:pPr>
            <a:r>
              <a:rPr lang="en-US" sz="2400" b="1" dirty="0">
                <a:solidFill>
                  <a:srgbClr val="0B4F6C"/>
                </a:solidFill>
              </a:rPr>
              <a:t>Startup Blueprint</a:t>
            </a:r>
            <a:endParaRPr lang="en-US" sz="2400" dirty="0"/>
          </a:p>
        </p:txBody>
      </p:sp>
      <p:sp>
        <p:nvSpPr>
          <p:cNvPr id="3" name="Text 1"/>
          <p:cNvSpPr/>
          <p:nvPr/>
        </p:nvSpPr>
        <p:spPr>
          <a:xfrm>
            <a:off x="640080" y="1005840"/>
            <a:ext cx="10789920" cy="5303520"/>
          </a:xfrm>
          <a:prstGeom prst="rect">
            <a:avLst/>
          </a:prstGeom>
          <a:noFill/>
          <a:ln/>
        </p:spPr>
        <p:txBody>
          <a:bodyPr wrap="square" rtlCol="0" anchor="ctr"/>
          <a:lstStyle/>
          <a:p>
            <a:pPr marL="203200" indent="-203200">
              <a:buSzPct val="100000"/>
              <a:buChar char="•"/>
            </a:pPr>
            <a:r>
              <a:rPr lang="en-US" sz="1800" dirty="0">
                <a:solidFill>
                  <a:srgbClr val="222222"/>
                </a:solidFill>
              </a:rPr>
              <a:t>Idea: Organic milk delivery app with subscription plans</a:t>
            </a:r>
            <a:endParaRPr lang="en-US" sz="1800" dirty="0"/>
          </a:p>
          <a:p>
            <a:pPr marL="203200" indent="-203200">
              <a:buSzPct val="100000"/>
              <a:buChar char="•"/>
            </a:pPr>
            <a:r>
              <a:rPr lang="en-US" sz="1800" dirty="0">
                <a:solidFill>
                  <a:srgbClr val="222222"/>
                </a:solidFill>
              </a:rPr>
              <a:t>Location: Pune</a:t>
            </a:r>
            <a:endParaRPr lang="en-US" sz="1800" dirty="0"/>
          </a:p>
          <a:p>
            <a:pPr marL="203200" indent="-203200">
              <a:buSzPct val="100000"/>
              <a:buChar char="•"/>
            </a:pPr>
            <a:r>
              <a:rPr lang="en-US" sz="1800" dirty="0">
                <a:solidFill>
                  <a:srgbClr val="222222"/>
                </a:solidFill>
              </a:rPr>
              <a:t>Category: Food &amp; Delivery</a:t>
            </a:r>
            <a:endParaRPr lang="en-US" sz="1800" dirty="0"/>
          </a:p>
          <a:p>
            <a:pPr marL="203200" indent="-203200">
              <a:buSzPct val="100000"/>
              <a:buChar char="•"/>
            </a:pPr>
            <a:r>
              <a:rPr lang="en-US" sz="1800" dirty="0">
                <a:solidFill>
                  <a:srgbClr val="222222"/>
                </a:solidFill>
              </a:rPr>
              <a:t>Budget: INR 2 - 5 Lakhs INR</a:t>
            </a:r>
            <a:endParaRPr lang="en-US" sz="1800" dirty="0"/>
          </a:p>
          <a:p>
            <a:pPr marL="203200" indent="-203200">
              <a:buSzPct val="100000"/>
              <a:buChar char="•"/>
            </a:pPr>
            <a:r>
              <a:rPr lang="en-US" sz="1800" dirty="0">
                <a:solidFill>
                  <a:srgbClr val="222222"/>
                </a:solidFill>
              </a:rPr>
              <a:t>An organic milk delivery platform offering subscription-based fresh milk delivery to health-conscious consumers in Pune. The app simplifies ordering, ensures timely delivery, and guarantees farm-to-doorstep freshness, targeting urban families and working professionals seeking quality dairy products.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365760" y="182880"/>
            <a:ext cx="11155680" cy="457200"/>
          </a:xfrm>
          <a:prstGeom prst="rect">
            <a:avLst/>
          </a:prstGeom>
          <a:noFill/>
          <a:ln/>
        </p:spPr>
        <p:txBody>
          <a:bodyPr wrap="square" rtlCol="0" anchor="ctr"/>
          <a:lstStyle/>
          <a:p>
            <a:pPr indent="0" marL="0">
              <a:buNone/>
            </a:pPr>
            <a:r>
              <a:rPr lang="en-US" sz="2400" b="1" dirty="0">
                <a:solidFill>
                  <a:srgbClr val="0B4F6C"/>
                </a:solidFill>
              </a:rPr>
              <a:t>Problem and Solution</a:t>
            </a:r>
            <a:endParaRPr lang="en-US" sz="2400" dirty="0"/>
          </a:p>
        </p:txBody>
      </p:sp>
      <p:sp>
        <p:nvSpPr>
          <p:cNvPr id="3" name="Text 1"/>
          <p:cNvSpPr/>
          <p:nvPr/>
        </p:nvSpPr>
        <p:spPr>
          <a:xfrm>
            <a:off x="640080" y="1005840"/>
            <a:ext cx="10789920" cy="5303520"/>
          </a:xfrm>
          <a:prstGeom prst="rect">
            <a:avLst/>
          </a:prstGeom>
          <a:noFill/>
          <a:ln/>
        </p:spPr>
        <p:txBody>
          <a:bodyPr wrap="square" rtlCol="0" anchor="ctr"/>
          <a:lstStyle/>
          <a:p>
            <a:pPr marL="203200" indent="-203200">
              <a:buSzPct val="100000"/>
              <a:buChar char="•"/>
            </a:pPr>
            <a:r>
              <a:rPr lang="en-US" sz="1800" dirty="0">
                <a:solidFill>
                  <a:srgbClr val="222222"/>
                </a:solidFill>
              </a:rPr>
              <a:t>Urban consumers in Pune face challenges accessing fresh, organic milk regularly due to inconsistent supply, lack of trust in vendors, and inconvenience of daily purchases. Existing delivery options are fragmented and lack subscription flexibility.</a:t>
            </a:r>
            <a:endParaRPr lang="en-US" sz="1800" dirty="0"/>
          </a:p>
          <a:p>
            <a:pPr marL="203200" indent="-203200">
              <a:buSzPct val="100000"/>
              <a:buChar char="•"/>
            </a:pPr>
            <a:r>
              <a:rPr lang="en-US" sz="1800" dirty="0">
                <a:solidFill>
                  <a:srgbClr val="222222"/>
                </a:solidFill>
              </a:rPr>
              <a:t>A mobile app providing curated organic milk subscription plans with flexible delivery schedules, transparent sourcing from local farms, real-time order tracking, and customer support. The platform automates recurring orders and offers customizable plans to reduce consumer effort and ensure consistent supply.</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65760" y="182880"/>
            <a:ext cx="11155680" cy="457200"/>
          </a:xfrm>
          <a:prstGeom prst="rect">
            <a:avLst/>
          </a:prstGeom>
          <a:noFill/>
          <a:ln/>
        </p:spPr>
        <p:txBody>
          <a:bodyPr wrap="square" rtlCol="0" anchor="ctr"/>
          <a:lstStyle/>
          <a:p>
            <a:pPr indent="0" marL="0">
              <a:buNone/>
            </a:pPr>
            <a:r>
              <a:rPr lang="en-US" sz="2400" b="1" dirty="0">
                <a:solidFill>
                  <a:srgbClr val="0B4F6C"/>
                </a:solidFill>
              </a:rPr>
              <a:t>Target Users</a:t>
            </a:r>
            <a:endParaRPr lang="en-US" sz="2400" dirty="0"/>
          </a:p>
        </p:txBody>
      </p:sp>
      <p:sp>
        <p:nvSpPr>
          <p:cNvPr id="3" name="Text 1"/>
          <p:cNvSpPr/>
          <p:nvPr/>
        </p:nvSpPr>
        <p:spPr>
          <a:xfrm>
            <a:off x="640080" y="1005840"/>
            <a:ext cx="10789920" cy="5303520"/>
          </a:xfrm>
          <a:prstGeom prst="rect">
            <a:avLst/>
          </a:prstGeom>
          <a:noFill/>
          <a:ln/>
        </p:spPr>
        <p:txBody>
          <a:bodyPr wrap="square" rtlCol="0" anchor="ctr"/>
          <a:lstStyle/>
          <a:p>
            <a:pPr marL="203200" indent="-203200">
              <a:buSzPct val="100000"/>
              <a:buChar char="•"/>
            </a:pPr>
            <a:r>
              <a:rPr lang="en-US" sz="1800" dirty="0">
                <a:solidFill>
                  <a:srgbClr val="222222"/>
                </a:solidFill>
              </a:rPr>
              <a:t>Health-conscious families in Pune</a:t>
            </a:r>
            <a:endParaRPr lang="en-US" sz="1800" dirty="0"/>
          </a:p>
          <a:p>
            <a:pPr marL="203200" indent="-203200">
              <a:buSzPct val="100000"/>
              <a:buChar char="•"/>
            </a:pPr>
            <a:r>
              <a:rPr lang="en-US" sz="1800" dirty="0">
                <a:solidFill>
                  <a:srgbClr val="222222"/>
                </a:solidFill>
              </a:rPr>
              <a:t>Working professionals aged 25-45</a:t>
            </a:r>
            <a:endParaRPr lang="en-US" sz="1800" dirty="0"/>
          </a:p>
          <a:p>
            <a:pPr marL="203200" indent="-203200">
              <a:buSzPct val="100000"/>
              <a:buChar char="•"/>
            </a:pPr>
            <a:r>
              <a:rPr lang="en-US" sz="1800" dirty="0">
                <a:solidFill>
                  <a:srgbClr val="222222"/>
                </a:solidFill>
              </a:rPr>
              <a:t>Organic product enthusiasts</a:t>
            </a:r>
            <a:endParaRPr lang="en-US" sz="1800" dirty="0"/>
          </a:p>
          <a:p>
            <a:pPr marL="203200" indent="-203200">
              <a:buSzPct val="100000"/>
              <a:buChar char="•"/>
            </a:pPr>
            <a:r>
              <a:rPr lang="en-US" sz="1800" dirty="0">
                <a:solidFill>
                  <a:srgbClr val="222222"/>
                </a:solidFill>
              </a:rPr>
              <a:t>Small cafes and boutique eateries seeking organic milk</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365760" y="182880"/>
            <a:ext cx="11155680" cy="457200"/>
          </a:xfrm>
          <a:prstGeom prst="rect">
            <a:avLst/>
          </a:prstGeom>
          <a:noFill/>
          <a:ln/>
        </p:spPr>
        <p:txBody>
          <a:bodyPr wrap="square" rtlCol="0" anchor="ctr"/>
          <a:lstStyle/>
          <a:p>
            <a:pPr indent="0" marL="0">
              <a:buNone/>
            </a:pPr>
            <a:r>
              <a:rPr lang="en-US" sz="2400" b="1" dirty="0">
                <a:solidFill>
                  <a:srgbClr val="0B4F6C"/>
                </a:solidFill>
              </a:rPr>
              <a:t>Market Analysis</a:t>
            </a:r>
            <a:endParaRPr lang="en-US" sz="2400" dirty="0"/>
          </a:p>
        </p:txBody>
      </p:sp>
      <p:sp>
        <p:nvSpPr>
          <p:cNvPr id="3" name="Text 1"/>
          <p:cNvSpPr/>
          <p:nvPr/>
        </p:nvSpPr>
        <p:spPr>
          <a:xfrm>
            <a:off x="640080" y="1005840"/>
            <a:ext cx="10789920" cy="5303520"/>
          </a:xfrm>
          <a:prstGeom prst="rect">
            <a:avLst/>
          </a:prstGeom>
          <a:noFill/>
          <a:ln/>
        </p:spPr>
        <p:txBody>
          <a:bodyPr wrap="square" rtlCol="0" anchor="ctr"/>
          <a:lstStyle/>
          <a:p>
            <a:pPr marL="203200" indent="-203200">
              <a:buSzPct val="100000"/>
              <a:buChar char="•"/>
            </a:pPr>
            <a:r>
              <a:rPr lang="en-US" sz="1800" dirty="0">
                <a:solidFill>
                  <a:srgbClr val="222222"/>
                </a:solidFill>
              </a:rPr>
              <a:t>Market size: Pune's organic dairy market estimated at INR 50 Crores annually with 15% annual growth driven by rising health awareness.</a:t>
            </a:r>
            <a:endParaRPr lang="en-US" sz="1800" dirty="0"/>
          </a:p>
          <a:p>
            <a:pPr marL="203200" indent="-203200">
              <a:buSzPct val="100000"/>
              <a:buChar char="•"/>
            </a:pPr>
            <a:r>
              <a:rPr lang="en-US" sz="1800" dirty="0">
                <a:solidFill>
                  <a:srgbClr val="222222"/>
                </a:solidFill>
              </a:rPr>
              <a:t>Competitor: Local milk vendors with irregular delivery</a:t>
            </a:r>
            <a:endParaRPr lang="en-US" sz="1800" dirty="0"/>
          </a:p>
          <a:p>
            <a:pPr marL="203200" indent="-203200">
              <a:buSzPct val="100000"/>
              <a:buChar char="•"/>
            </a:pPr>
            <a:r>
              <a:rPr lang="en-US" sz="1800" dirty="0">
                <a:solidFill>
                  <a:srgbClr val="222222"/>
                </a:solidFill>
              </a:rPr>
              <a:t>Competitor: Established organic dairy brands with offline sales</a:t>
            </a:r>
            <a:endParaRPr lang="en-US" sz="1800" dirty="0"/>
          </a:p>
          <a:p>
            <a:pPr marL="203200" indent="-203200">
              <a:buSzPct val="100000"/>
              <a:buChar char="•"/>
            </a:pPr>
            <a:r>
              <a:rPr lang="en-US" sz="1800" dirty="0">
                <a:solidFill>
                  <a:srgbClr val="222222"/>
                </a:solidFill>
              </a:rPr>
              <a:t>Competitor: General grocery delivery apps with limited organic milk options</a:t>
            </a:r>
            <a:endParaRPr lang="en-US" sz="1800" dirty="0"/>
          </a:p>
          <a:p>
            <a:pPr marL="203200" indent="-203200">
              <a:buSzPct val="100000"/>
              <a:buChar char="•"/>
            </a:pPr>
            <a:r>
              <a:rPr lang="en-US" sz="1800" dirty="0">
                <a:solidFill>
                  <a:srgbClr val="222222"/>
                </a:solidFill>
              </a:rPr>
              <a:t>Trend: Increasing consumer preference for organic and farm-fresh products</a:t>
            </a:r>
            <a:endParaRPr lang="en-US" sz="1800" dirty="0"/>
          </a:p>
          <a:p>
            <a:pPr marL="203200" indent="-203200">
              <a:buSzPct val="100000"/>
              <a:buChar char="•"/>
            </a:pPr>
            <a:r>
              <a:rPr lang="en-US" sz="1800" dirty="0">
                <a:solidFill>
                  <a:srgbClr val="222222"/>
                </a:solidFill>
              </a:rPr>
              <a:t>Trend: Growth of subscription-based delivery models in FMCG</a:t>
            </a:r>
            <a:endParaRPr lang="en-US" sz="1800" dirty="0"/>
          </a:p>
          <a:p>
            <a:pPr marL="203200" indent="-203200">
              <a:buSzPct val="100000"/>
              <a:buChar char="•"/>
            </a:pPr>
            <a:r>
              <a:rPr lang="en-US" sz="1800" dirty="0">
                <a:solidFill>
                  <a:srgbClr val="222222"/>
                </a:solidFill>
              </a:rPr>
              <a:t>Trend: Rising smartphone penetration enabling app-based ordering</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365760" y="182880"/>
            <a:ext cx="11155680" cy="457200"/>
          </a:xfrm>
          <a:prstGeom prst="rect">
            <a:avLst/>
          </a:prstGeom>
          <a:noFill/>
          <a:ln/>
        </p:spPr>
        <p:txBody>
          <a:bodyPr wrap="square" rtlCol="0" anchor="ctr"/>
          <a:lstStyle/>
          <a:p>
            <a:pPr indent="0" marL="0">
              <a:buNone/>
            </a:pPr>
            <a:r>
              <a:rPr lang="en-US" sz="2400" b="1" dirty="0">
                <a:solidFill>
                  <a:srgbClr val="0B4F6C"/>
                </a:solidFill>
              </a:rPr>
              <a:t>Business Model</a:t>
            </a:r>
            <a:endParaRPr lang="en-US" sz="2400" dirty="0"/>
          </a:p>
        </p:txBody>
      </p:sp>
      <p:sp>
        <p:nvSpPr>
          <p:cNvPr id="3" name="Text 1"/>
          <p:cNvSpPr/>
          <p:nvPr/>
        </p:nvSpPr>
        <p:spPr>
          <a:xfrm>
            <a:off x="640080" y="1005840"/>
            <a:ext cx="10789920" cy="5303520"/>
          </a:xfrm>
          <a:prstGeom prst="rect">
            <a:avLst/>
          </a:prstGeom>
          <a:noFill/>
          <a:ln/>
        </p:spPr>
        <p:txBody>
          <a:bodyPr wrap="square" rtlCol="0" anchor="ctr"/>
          <a:lstStyle/>
          <a:p>
            <a:pPr marL="203200" indent="-203200">
              <a:buSzPct val="100000"/>
              <a:buChar char="•"/>
            </a:pPr>
            <a:r>
              <a:rPr lang="en-US" sz="1800" dirty="0">
                <a:solidFill>
                  <a:srgbClr val="222222"/>
                </a:solidFill>
              </a:rPr>
              <a:t>Revenue: Monthly subscription fees for milk delivery plans</a:t>
            </a:r>
            <a:endParaRPr lang="en-US" sz="1800" dirty="0"/>
          </a:p>
          <a:p>
            <a:pPr marL="203200" indent="-203200">
              <a:buSzPct val="100000"/>
              <a:buChar char="•"/>
            </a:pPr>
            <a:r>
              <a:rPr lang="en-US" sz="1800" dirty="0">
                <a:solidFill>
                  <a:srgbClr val="222222"/>
                </a:solidFill>
              </a:rPr>
              <a:t>Revenue: Premium plans with added products (curd, paneer)</a:t>
            </a:r>
            <a:endParaRPr lang="en-US" sz="1800" dirty="0"/>
          </a:p>
          <a:p>
            <a:pPr marL="203200" indent="-203200">
              <a:buSzPct val="100000"/>
              <a:buChar char="•"/>
            </a:pPr>
            <a:r>
              <a:rPr lang="en-US" sz="1800" dirty="0">
                <a:solidFill>
                  <a:srgbClr val="222222"/>
                </a:solidFill>
              </a:rPr>
              <a:t>Revenue: Delivery fees for non-subscribers</a:t>
            </a:r>
            <a:endParaRPr lang="en-US" sz="1800" dirty="0"/>
          </a:p>
          <a:p>
            <a:pPr marL="203200" indent="-203200">
              <a:buSzPct val="100000"/>
              <a:buChar char="•"/>
            </a:pPr>
            <a:r>
              <a:rPr lang="en-US" sz="1800" dirty="0">
                <a:solidFill>
                  <a:srgbClr val="222222"/>
                </a:solidFill>
              </a:rPr>
              <a:t>Revenue: Partnership commissions from local farms</a:t>
            </a:r>
            <a:endParaRPr lang="en-US" sz="1800" dirty="0"/>
          </a:p>
          <a:p>
            <a:pPr marL="203200" indent="-203200">
              <a:buSzPct val="100000"/>
              <a:buChar char="•"/>
            </a:pPr>
            <a:r>
              <a:rPr lang="en-US" sz="1800" dirty="0">
                <a:solidFill>
                  <a:srgbClr val="222222"/>
                </a:solidFill>
              </a:rPr>
              <a:t>Pricing: Competitive subscription pricing starting at INR 500/month with tiered plans based on quantity and frequency. Discounts for longer commitments and referral incentives.</a:t>
            </a:r>
            <a:endParaRPr lang="en-US" sz="1800" dirty="0"/>
          </a:p>
          <a:p>
            <a:pPr marL="203200" indent="-203200">
              <a:buSzPct val="100000"/>
              <a:buChar char="•"/>
            </a:pPr>
            <a:r>
              <a:rPr lang="en-US" sz="1800" dirty="0">
                <a:solidFill>
                  <a:srgbClr val="222222"/>
                </a:solidFill>
              </a:rPr>
              <a:t>Unit economics: Average order value INR 600, gross margin ~30% after procurement and delivery costs, customer acquisition cost estimated INR 300, aiming for break-even at 500 active subscribers.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65760" y="182880"/>
            <a:ext cx="11155680" cy="457200"/>
          </a:xfrm>
          <a:prstGeom prst="rect">
            <a:avLst/>
          </a:prstGeom>
          <a:noFill/>
          <a:ln/>
        </p:spPr>
        <p:txBody>
          <a:bodyPr wrap="square" rtlCol="0" anchor="ctr"/>
          <a:lstStyle/>
          <a:p>
            <a:pPr indent="0" marL="0">
              <a:buNone/>
            </a:pPr>
            <a:r>
              <a:rPr lang="en-US" sz="2400" b="1" dirty="0">
                <a:solidFill>
                  <a:srgbClr val="0B4F6C"/>
                </a:solidFill>
              </a:rPr>
              <a:t>Operations</a:t>
            </a:r>
            <a:endParaRPr lang="en-US" sz="2400" dirty="0"/>
          </a:p>
        </p:txBody>
      </p:sp>
      <p:sp>
        <p:nvSpPr>
          <p:cNvPr id="3" name="Text 1"/>
          <p:cNvSpPr/>
          <p:nvPr/>
        </p:nvSpPr>
        <p:spPr>
          <a:xfrm>
            <a:off x="640080" y="1005840"/>
            <a:ext cx="10789920" cy="5303520"/>
          </a:xfrm>
          <a:prstGeom prst="rect">
            <a:avLst/>
          </a:prstGeom>
          <a:noFill/>
          <a:ln/>
        </p:spPr>
        <p:txBody>
          <a:bodyPr wrap="square" rtlCol="0" anchor="ctr"/>
          <a:lstStyle/>
          <a:p>
            <a:pPr marL="203200" indent="-203200">
              <a:buSzPct val="100000"/>
              <a:buChar char="•"/>
            </a:pPr>
            <a:r>
              <a:rPr lang="en-US" sz="1800" dirty="0">
                <a:solidFill>
                  <a:srgbClr val="222222"/>
                </a:solidFill>
              </a:rPr>
              <a:t>Order placement via app with subscription selection</a:t>
            </a:r>
            <a:endParaRPr lang="en-US" sz="1800" dirty="0"/>
          </a:p>
          <a:p>
            <a:pPr marL="203200" indent="-203200">
              <a:buSzPct val="100000"/>
              <a:buChar char="•"/>
            </a:pPr>
            <a:r>
              <a:rPr lang="en-US" sz="1800" dirty="0">
                <a:solidFill>
                  <a:srgbClr val="222222"/>
                </a:solidFill>
              </a:rPr>
              <a:t>Daily procurement scheduling with partner farms</a:t>
            </a:r>
            <a:endParaRPr lang="en-US" sz="1800" dirty="0"/>
          </a:p>
          <a:p>
            <a:pPr marL="203200" indent="-203200">
              <a:buSzPct val="100000"/>
              <a:buChar char="•"/>
            </a:pPr>
            <a:r>
              <a:rPr lang="en-US" sz="1800" dirty="0">
                <a:solidFill>
                  <a:srgbClr val="222222"/>
                </a:solidFill>
              </a:rPr>
              <a:t>Milk quality testing and packaging at central hub</a:t>
            </a:r>
            <a:endParaRPr lang="en-US" sz="1800" dirty="0"/>
          </a:p>
          <a:p>
            <a:pPr marL="203200" indent="-203200">
              <a:buSzPct val="100000"/>
              <a:buChar char="•"/>
            </a:pPr>
            <a:r>
              <a:rPr lang="en-US" sz="1800" dirty="0">
                <a:solidFill>
                  <a:srgbClr val="222222"/>
                </a:solidFill>
              </a:rPr>
              <a:t>Route-optimized delivery execution with tracking</a:t>
            </a:r>
            <a:endParaRPr lang="en-US" sz="1800" dirty="0"/>
          </a:p>
          <a:p>
            <a:pPr marL="203200" indent="-203200">
              <a:buSzPct val="100000"/>
              <a:buChar char="•"/>
            </a:pPr>
            <a:r>
              <a:rPr lang="en-US" sz="1800" dirty="0">
                <a:solidFill>
                  <a:srgbClr val="222222"/>
                </a:solidFill>
              </a:rPr>
              <a:t>Customer feedback and issue resolution</a:t>
            </a:r>
            <a:endParaRPr lang="en-US" sz="1800" dirty="0"/>
          </a:p>
          <a:p>
            <a:pPr marL="203200" indent="-203200">
              <a:buSzPct val="100000"/>
              <a:buChar char="•"/>
            </a:pPr>
            <a:r>
              <a:rPr lang="en-US" sz="1800" dirty="0">
                <a:solidFill>
                  <a:srgbClr val="222222"/>
                </a:solidFill>
              </a:rPr>
              <a:t>Founders: Business and tech leads</a:t>
            </a:r>
            <a:endParaRPr lang="en-US" sz="1800" dirty="0"/>
          </a:p>
          <a:p>
            <a:pPr marL="203200" indent="-203200">
              <a:buSzPct val="100000"/>
              <a:buChar char="•"/>
            </a:pPr>
            <a:r>
              <a:rPr lang="en-US" sz="1800" dirty="0">
                <a:solidFill>
                  <a:srgbClr val="222222"/>
                </a:solidFill>
              </a:rPr>
              <a:t>Operations Manager: Oversees procurement and delivery</a:t>
            </a:r>
            <a:endParaRPr lang="en-US" sz="1800" dirty="0"/>
          </a:p>
          <a:p>
            <a:pPr marL="203200" indent="-203200">
              <a:buSzPct val="100000"/>
              <a:buChar char="•"/>
            </a:pPr>
            <a:r>
              <a:rPr lang="en-US" sz="1800" dirty="0">
                <a:solidFill>
                  <a:srgbClr val="222222"/>
                </a:solidFill>
              </a:rPr>
              <a:t>Delivery Staff: Contracted riders</a:t>
            </a:r>
            <a:endParaRPr lang="en-US" sz="1800" dirty="0"/>
          </a:p>
          <a:p>
            <a:pPr marL="203200" indent="-203200">
              <a:buSzPct val="100000"/>
              <a:buChar char="•"/>
            </a:pPr>
            <a:r>
              <a:rPr lang="en-US" sz="1800" dirty="0">
                <a:solidFill>
                  <a:srgbClr val="222222"/>
                </a:solidFill>
              </a:rPr>
              <a:t>Customer Support Executive</a:t>
            </a:r>
            <a:endParaRPr lang="en-US" sz="1800" dirty="0"/>
          </a:p>
          <a:p>
            <a:pPr marL="203200" indent="-203200">
              <a:buSzPct val="100000"/>
              <a:buChar char="•"/>
            </a:pPr>
            <a:r>
              <a:rPr lang="en-US" sz="1800" dirty="0">
                <a:solidFill>
                  <a:srgbClr val="222222"/>
                </a:solidFill>
              </a:rPr>
              <a:t>Mobile app (iOS/Android) for ordering</a:t>
            </a:r>
            <a:endParaRPr lang="en-US" sz="1800" dirty="0"/>
          </a:p>
          <a:p>
            <a:pPr marL="203200" indent="-203200">
              <a:buSzPct val="100000"/>
              <a:buChar char="•"/>
            </a:pPr>
            <a:r>
              <a:rPr lang="en-US" sz="1800" dirty="0">
                <a:solidFill>
                  <a:srgbClr val="222222"/>
                </a:solidFill>
              </a:rPr>
              <a:t>Delivery management software (e.g., Tookan, or custom)</a:t>
            </a:r>
            <a:endParaRPr lang="en-US" sz="1800" dirty="0"/>
          </a:p>
          <a:p>
            <a:pPr marL="203200" indent="-203200">
              <a:buSzPct val="100000"/>
              <a:buChar char="•"/>
            </a:pPr>
            <a:r>
              <a:rPr lang="en-US" sz="1800" dirty="0">
                <a:solidFill>
                  <a:srgbClr val="222222"/>
                </a:solidFill>
              </a:rPr>
              <a:t>Accounting software (e.g., QuickBooks, Zoho Books)</a:t>
            </a:r>
            <a:endParaRPr lang="en-US" sz="1800" dirty="0"/>
          </a:p>
          <a:p>
            <a:pPr marL="203200" indent="-203200">
              <a:buSzPct val="100000"/>
              <a:buChar char="•"/>
            </a:pPr>
            <a:r>
              <a:rPr lang="en-US" sz="1800" dirty="0">
                <a:solidFill>
                  <a:srgbClr val="222222"/>
                </a:solidFill>
              </a:rPr>
              <a:t>CRM for customer engagement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365760" y="182880"/>
            <a:ext cx="11155680" cy="457200"/>
          </a:xfrm>
          <a:prstGeom prst="rect">
            <a:avLst/>
          </a:prstGeom>
          <a:noFill/>
          <a:ln/>
        </p:spPr>
        <p:txBody>
          <a:bodyPr wrap="square" rtlCol="0" anchor="ctr"/>
          <a:lstStyle/>
          <a:p>
            <a:pPr indent="0" marL="0">
              <a:buNone/>
            </a:pPr>
            <a:r>
              <a:rPr lang="en-US" sz="2400" b="1" dirty="0">
                <a:solidFill>
                  <a:srgbClr val="0B4F6C"/>
                </a:solidFill>
              </a:rPr>
              <a:t>Legal and Compliance</a:t>
            </a:r>
            <a:endParaRPr lang="en-US" sz="2400" dirty="0"/>
          </a:p>
        </p:txBody>
      </p:sp>
      <p:sp>
        <p:nvSpPr>
          <p:cNvPr id="3" name="Text 1"/>
          <p:cNvSpPr/>
          <p:nvPr/>
        </p:nvSpPr>
        <p:spPr>
          <a:xfrm>
            <a:off x="640080" y="1005840"/>
            <a:ext cx="10789920" cy="5303520"/>
          </a:xfrm>
          <a:prstGeom prst="rect">
            <a:avLst/>
          </a:prstGeom>
          <a:noFill/>
          <a:ln/>
        </p:spPr>
        <p:txBody>
          <a:bodyPr wrap="square" rtlCol="0" anchor="ctr"/>
          <a:lstStyle/>
          <a:p>
            <a:pPr marL="203200" indent="-203200">
              <a:buSzPct val="100000"/>
              <a:buChar char="•"/>
            </a:pPr>
            <a:r>
              <a:rPr lang="en-US" sz="1800" dirty="0">
                <a:solidFill>
                  <a:srgbClr val="222222"/>
                </a:solidFill>
              </a:rPr>
              <a:t>Company incorporation as Private Limited or LLP in India</a:t>
            </a:r>
            <a:endParaRPr lang="en-US" sz="1800" dirty="0"/>
          </a:p>
          <a:p>
            <a:pPr marL="203200" indent="-203200">
              <a:buSzPct val="100000"/>
              <a:buChar char="•"/>
            </a:pPr>
            <a:r>
              <a:rPr lang="en-US" sz="1800" dirty="0">
                <a:solidFill>
                  <a:srgbClr val="222222"/>
                </a:solidFill>
              </a:rPr>
              <a:t>PAN and TAN registration</a:t>
            </a:r>
            <a:endParaRPr lang="en-US" sz="1800" dirty="0"/>
          </a:p>
          <a:p>
            <a:pPr marL="203200" indent="-203200">
              <a:buSzPct val="100000"/>
              <a:buChar char="•"/>
            </a:pPr>
            <a:r>
              <a:rPr lang="en-US" sz="1800" dirty="0">
                <a:solidFill>
                  <a:srgbClr val="222222"/>
                </a:solidFill>
              </a:rPr>
              <a:t>GST registration (threshold likely exceeded)</a:t>
            </a:r>
            <a:endParaRPr lang="en-US" sz="1800" dirty="0"/>
          </a:p>
          <a:p>
            <a:pPr marL="203200" indent="-203200">
              <a:buSzPct val="100000"/>
              <a:buChar char="•"/>
            </a:pPr>
            <a:r>
              <a:rPr lang="en-US" sz="1800" dirty="0">
                <a:solidFill>
                  <a:srgbClr val="222222"/>
                </a:solidFill>
              </a:rPr>
              <a:t>Professional tax registration (Maharashtra)</a:t>
            </a:r>
            <a:endParaRPr lang="en-US" sz="1800" dirty="0"/>
          </a:p>
          <a:p>
            <a:pPr marL="203200" indent="-203200">
              <a:buSzPct val="100000"/>
              <a:buChar char="•"/>
            </a:pPr>
            <a:r>
              <a:rPr lang="en-US" sz="1800" dirty="0">
                <a:solidFill>
                  <a:srgbClr val="222222"/>
                </a:solidFill>
              </a:rPr>
              <a:t>Food Safety and Standards Authority of India (FSSAI) license</a:t>
            </a:r>
            <a:endParaRPr lang="en-US" sz="1800" dirty="0"/>
          </a:p>
          <a:p>
            <a:pPr marL="203200" indent="-203200">
              <a:buSzPct val="100000"/>
              <a:buChar char="•"/>
            </a:pPr>
            <a:r>
              <a:rPr lang="en-US" sz="1800" dirty="0">
                <a:solidFill>
                  <a:srgbClr val="222222"/>
                </a:solidFill>
              </a:rPr>
              <a:t>Labor law registrations if employing staff</a:t>
            </a:r>
            <a:endParaRPr lang="en-US" sz="1800" dirty="0"/>
          </a:p>
          <a:p>
            <a:pPr marL="203200" indent="-203200">
              <a:buSzPct val="100000"/>
              <a:buChar char="•"/>
            </a:pPr>
            <a:r>
              <a:rPr lang="en-US" sz="1800" dirty="0">
                <a:solidFill>
                  <a:srgbClr val="222222"/>
                </a:solidFill>
              </a:rPr>
              <a:t>Privacy Policy for app users</a:t>
            </a:r>
            <a:endParaRPr lang="en-US" sz="1800" dirty="0"/>
          </a:p>
          <a:p>
            <a:pPr marL="203200" indent="-203200">
              <a:buSzPct val="100000"/>
              <a:buChar char="•"/>
            </a:pPr>
            <a:r>
              <a:rPr lang="en-US" sz="1800" dirty="0">
                <a:solidFill>
                  <a:srgbClr val="222222"/>
                </a:solidFill>
              </a:rPr>
              <a:t>Terms of Service including subscription terms</a:t>
            </a:r>
            <a:endParaRPr lang="en-US" sz="1800" dirty="0"/>
          </a:p>
          <a:p>
            <a:pPr marL="203200" indent="-203200">
              <a:buSzPct val="100000"/>
              <a:buChar char="•"/>
            </a:pPr>
            <a:r>
              <a:rPr lang="en-US" sz="1800" dirty="0">
                <a:solidFill>
                  <a:srgbClr val="222222"/>
                </a:solidFill>
              </a:rPr>
              <a:t>Return and Refund Policy</a:t>
            </a:r>
            <a:endParaRPr lang="en-US" sz="1800" dirty="0"/>
          </a:p>
          <a:p>
            <a:pPr marL="203200" indent="-203200">
              <a:buSzPct val="100000"/>
              <a:buChar char="•"/>
            </a:pPr>
            <a:r>
              <a:rPr lang="en-US" sz="1800" dirty="0">
                <a:solidFill>
                  <a:srgbClr val="222222"/>
                </a:solidFill>
              </a:rPr>
              <a:t>Food safety and hygiene compliance documentation</a:t>
            </a:r>
            <a:endParaRPr lang="en-US" sz="1800" dirty="0"/>
          </a:p>
          <a:p>
            <a:pPr marL="203200" indent="-203200">
              <a:buSzPct val="100000"/>
              <a:buChar char="•"/>
            </a:pPr>
            <a:r>
              <a:rPr lang="en-US" sz="1800" dirty="0">
                <a:solidFill>
                  <a:srgbClr val="222222"/>
                </a:solidFill>
              </a:rPr>
              <a:t>Periodic GST filings</a:t>
            </a:r>
            <a:endParaRPr lang="en-US" sz="1800" dirty="0"/>
          </a:p>
          <a:p>
            <a:pPr marL="203200" indent="-203200">
              <a:buSzPct val="100000"/>
              <a:buChar char="•"/>
            </a:pPr>
            <a:r>
              <a:rPr lang="en-US" sz="1800" dirty="0">
                <a:solidFill>
                  <a:srgbClr val="222222"/>
                </a:solidFill>
              </a:rPr>
              <a:t>TDS compliance on payments</a:t>
            </a:r>
            <a:endParaRPr lang="en-US" sz="1800" dirty="0"/>
          </a:p>
          <a:p>
            <a:pPr marL="203200" indent="-203200">
              <a:buSzPct val="100000"/>
              <a:buChar char="•"/>
            </a:pPr>
            <a:r>
              <a:rPr lang="en-US" sz="1800" dirty="0">
                <a:solidFill>
                  <a:srgbClr val="222222"/>
                </a:solidFill>
              </a:rPr>
              <a:t>Regular bookkeeping and audit readiness</a:t>
            </a:r>
            <a:endParaRPr lang="en-US" sz="1800" dirty="0"/>
          </a:p>
          <a:p>
            <a:pPr marL="203200" indent="-203200">
              <a:buSzPct val="100000"/>
              <a:buChar char="•"/>
            </a:pPr>
            <a:r>
              <a:rPr lang="en-US" sz="1800" dirty="0">
                <a:solidFill>
                  <a:srgbClr val="222222"/>
                </a:solidFill>
              </a:rPr>
              <a:t>FSSAI compliance and inspections</a:t>
            </a:r>
            <a:endParaRPr lang="en-US" sz="1800" dirty="0"/>
          </a:p>
          <a:p>
            <a:pPr marL="203200" indent="-203200">
              <a:buSzPct val="100000"/>
              <a:buChar char="•"/>
            </a:pPr>
            <a:r>
              <a:rPr lang="en-US" sz="1800" dirty="0">
                <a:solidFill>
                  <a:srgbClr val="222222"/>
                </a:solidFill>
              </a:rPr>
              <a:t>Adherence to Maharashtra labor laws</a:t>
            </a:r>
            <a:endParaRPr lang="en-US" sz="1800" dirty="0"/>
          </a:p>
          <a:p>
            <a:pPr marL="203200" indent="-203200">
              <a:buSzPct val="100000"/>
              <a:buChar char="•"/>
            </a:pPr>
            <a:r>
              <a:rPr lang="en-US" sz="1800" dirty="0">
                <a:solidFill>
                  <a:srgbClr val="222222"/>
                </a:solidFill>
              </a:rPr>
              <a:t>Disclaimer: This blueprint provides general guidance. Founders must consult qualified Chartered Accountants, Company Secretaries, and legal professionals to ensure full compliance with applicable laws and regulations.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365760" y="182880"/>
            <a:ext cx="11155680" cy="457200"/>
          </a:xfrm>
          <a:prstGeom prst="rect">
            <a:avLst/>
          </a:prstGeom>
          <a:noFill/>
          <a:ln/>
        </p:spPr>
        <p:txBody>
          <a:bodyPr wrap="square" rtlCol="0" anchor="ctr"/>
          <a:lstStyle/>
          <a:p>
            <a:pPr indent="0" marL="0">
              <a:buNone/>
            </a:pPr>
            <a:r>
              <a:rPr lang="en-US" sz="2400" b="1" dirty="0">
                <a:solidFill>
                  <a:srgbClr val="0B4F6C"/>
                </a:solidFill>
              </a:rPr>
              <a:t>Financial Plan</a:t>
            </a:r>
            <a:endParaRPr lang="en-US" sz="2400" dirty="0"/>
          </a:p>
        </p:txBody>
      </p:sp>
      <p:sp>
        <p:nvSpPr>
          <p:cNvPr id="3" name="Text 1"/>
          <p:cNvSpPr/>
          <p:nvPr/>
        </p:nvSpPr>
        <p:spPr>
          <a:xfrm>
            <a:off x="640080" y="1005840"/>
            <a:ext cx="10789920" cy="5303520"/>
          </a:xfrm>
          <a:prstGeom prst="rect">
            <a:avLst/>
          </a:prstGeom>
          <a:noFill/>
          <a:ln/>
        </p:spPr>
        <p:txBody>
          <a:bodyPr wrap="square" rtlCol="0" anchor="ctr"/>
          <a:lstStyle/>
          <a:p>
            <a:pPr marL="203200" indent="-203200">
              <a:buSzPct val="100000"/>
              <a:buChar char="•"/>
            </a:pPr>
            <a:r>
              <a:rPr lang="en-US" sz="1800" dirty="0">
                <a:solidFill>
                  <a:srgbClr val="222222"/>
                </a:solidFill>
              </a:rPr>
              <a:t>Startup cost: INR 2,00,000 - 3,50,000 covering app development (MVP), company registration, initial marketing, and procurement setup.</a:t>
            </a:r>
            <a:endParaRPr lang="en-US" sz="1800" dirty="0"/>
          </a:p>
          <a:p>
            <a:pPr marL="203200" indent="-203200">
              <a:buSzPct val="100000"/>
              <a:buChar char="•"/>
            </a:pPr>
            <a:r>
              <a:rPr lang="en-US" sz="1800" dirty="0">
                <a:solidFill>
                  <a:srgbClr val="222222"/>
                </a:solidFill>
              </a:rPr>
              <a:t>Monthly burn: INR 50,000 - 80,000 including delivery costs, salaries, marketing, and operational expenses.</a:t>
            </a:r>
            <a:endParaRPr lang="en-US" sz="1800" dirty="0"/>
          </a:p>
          <a:p>
            <a:pPr marL="203200" indent="-203200">
              <a:buSzPct val="100000"/>
              <a:buChar char="•"/>
            </a:pPr>
            <a:r>
              <a:rPr lang="en-US" sz="1800" dirty="0">
                <a:solidFill>
                  <a:srgbClr val="222222"/>
                </a:solidFill>
              </a:rPr>
              <a:t>12M projection: [object Object]</a:t>
            </a:r>
            <a:endParaRPr lang="en-US" sz="1800" dirty="0"/>
          </a:p>
          <a:p>
            <a:pPr marL="203200" indent="-203200">
              <a:buSzPct val="100000"/>
              <a:buChar char="•"/>
            </a:pPr>
            <a:r>
              <a:rPr lang="en-US" sz="1800" dirty="0">
                <a:solidFill>
                  <a:srgbClr val="222222"/>
                </a:solidFill>
              </a:rPr>
              <a:t>Break-even: Expected break-even between months 8 to 10 with steady subscriber growth and controlled CAC.</a:t>
            </a:r>
            <a:endParaRPr lang="en-US" sz="1800" dirty="0"/>
          </a:p>
          <a:p>
            <a:pPr marL="203200" indent="-203200">
              <a:buSzPct val="100000"/>
              <a:buChar char="•"/>
            </a:pPr>
            <a:r>
              <a:rPr lang="en-US" sz="1800" dirty="0">
                <a:solidFill>
                  <a:srgbClr val="222222"/>
                </a:solidFill>
              </a:rPr>
              <a:t>Average subscription fee INR 600/month</a:t>
            </a:r>
            <a:endParaRPr lang="en-US" sz="1800" dirty="0"/>
          </a:p>
          <a:p>
            <a:pPr marL="203200" indent="-203200">
              <a:buSzPct val="100000"/>
              <a:buChar char="•"/>
            </a:pPr>
            <a:r>
              <a:rPr lang="en-US" sz="1800" dirty="0">
                <a:solidFill>
                  <a:srgbClr val="222222"/>
                </a:solidFill>
              </a:rPr>
              <a:t>Customer acquisition cost INR 300</a:t>
            </a:r>
            <a:endParaRPr lang="en-US" sz="1800" dirty="0"/>
          </a:p>
          <a:p>
            <a:pPr marL="203200" indent="-203200">
              <a:buSzPct val="100000"/>
              <a:buChar char="•"/>
            </a:pPr>
            <a:r>
              <a:rPr lang="en-US" sz="1800" dirty="0">
                <a:solidFill>
                  <a:srgbClr val="222222"/>
                </a:solidFill>
              </a:rPr>
              <a:t>Churn rate 5% monthly</a:t>
            </a:r>
            <a:endParaRPr lang="en-US" sz="1800" dirty="0"/>
          </a:p>
          <a:p>
            <a:pPr marL="203200" indent="-203200">
              <a:buSzPct val="100000"/>
              <a:buChar char="•"/>
            </a:pPr>
            <a:r>
              <a:rPr lang="en-US" sz="1800" dirty="0">
                <a:solidFill>
                  <a:srgbClr val="222222"/>
                </a:solidFill>
              </a:rPr>
              <a:t>Gross margin 30%</a:t>
            </a:r>
            <a:endParaRPr lang="en-US" sz="1800" dirty="0"/>
          </a:p>
          <a:p>
            <a:pPr marL="203200" indent="-203200">
              <a:buSzPct val="100000"/>
              <a:buChar char="•"/>
            </a:pPr>
            <a:r>
              <a:rPr lang="en-US" sz="1800" dirty="0">
                <a:solidFill>
                  <a:srgbClr val="222222"/>
                </a:solidFill>
              </a:rPr>
              <a:t>Delivery radius limited to Pune city to optimize costs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365760" y="182880"/>
            <a:ext cx="11155680" cy="457200"/>
          </a:xfrm>
          <a:prstGeom prst="rect">
            <a:avLst/>
          </a:prstGeom>
          <a:noFill/>
          <a:ln/>
        </p:spPr>
        <p:txBody>
          <a:bodyPr wrap="square" rtlCol="0" anchor="ctr"/>
          <a:lstStyle/>
          <a:p>
            <a:pPr indent="0" marL="0">
              <a:buNone/>
            </a:pPr>
            <a:r>
              <a:rPr lang="en-US" sz="2400" b="1" dirty="0">
                <a:solidFill>
                  <a:srgbClr val="0B4F6C"/>
                </a:solidFill>
              </a:rPr>
              <a:t>Risks and 90-Day Milestones</a:t>
            </a:r>
            <a:endParaRPr lang="en-US" sz="2400" dirty="0"/>
          </a:p>
        </p:txBody>
      </p:sp>
      <p:sp>
        <p:nvSpPr>
          <p:cNvPr id="3" name="Text 1"/>
          <p:cNvSpPr/>
          <p:nvPr/>
        </p:nvSpPr>
        <p:spPr>
          <a:xfrm>
            <a:off x="640080" y="1005840"/>
            <a:ext cx="10789920" cy="5303520"/>
          </a:xfrm>
          <a:prstGeom prst="rect">
            <a:avLst/>
          </a:prstGeom>
          <a:noFill/>
          <a:ln/>
        </p:spPr>
        <p:txBody>
          <a:bodyPr wrap="square" rtlCol="0" anchor="ctr"/>
          <a:lstStyle/>
          <a:p>
            <a:pPr marL="203200" indent="-203200">
              <a:buSzPct val="100000"/>
              <a:buChar char="•"/>
            </a:pPr>
            <a:r>
              <a:rPr lang="en-US" sz="1800" dirty="0">
                <a:solidFill>
                  <a:srgbClr val="222222"/>
                </a:solidFill>
              </a:rPr>
              <a:t>Supply chain disruptions mitigated by multiple farm partnerships</a:t>
            </a:r>
            <a:endParaRPr lang="en-US" sz="1800" dirty="0"/>
          </a:p>
          <a:p>
            <a:pPr marL="203200" indent="-203200">
              <a:buSzPct val="100000"/>
              <a:buChar char="•"/>
            </a:pPr>
            <a:r>
              <a:rPr lang="en-US" sz="1800" dirty="0">
                <a:solidFill>
                  <a:srgbClr val="222222"/>
                </a:solidFill>
              </a:rPr>
              <a:t>Customer churn reduced by quality assurance and flexible plans</a:t>
            </a:r>
            <a:endParaRPr lang="en-US" sz="1800" dirty="0"/>
          </a:p>
          <a:p>
            <a:pPr marL="203200" indent="-203200">
              <a:buSzPct val="100000"/>
              <a:buChar char="•"/>
            </a:pPr>
            <a:r>
              <a:rPr lang="en-US" sz="1800" dirty="0">
                <a:solidFill>
                  <a:srgbClr val="222222"/>
                </a:solidFill>
              </a:rPr>
              <a:t>Regulatory non-compliance avoided through professional advisory</a:t>
            </a:r>
            <a:endParaRPr lang="en-US" sz="1800" dirty="0"/>
          </a:p>
          <a:p>
            <a:pPr marL="203200" indent="-203200">
              <a:buSzPct val="100000"/>
              <a:buChar char="•"/>
            </a:pPr>
            <a:r>
              <a:rPr lang="en-US" sz="1800" dirty="0">
                <a:solidFill>
                  <a:srgbClr val="222222"/>
                </a:solidFill>
              </a:rPr>
              <a:t>Delivery delays minimized by route optimization and real-time tracking</a:t>
            </a:r>
            <a:endParaRPr lang="en-US" sz="1800" dirty="0"/>
          </a:p>
          <a:p>
            <a:pPr marL="203200" indent="-203200">
              <a:buSzPct val="100000"/>
              <a:buChar char="•"/>
            </a:pPr>
            <a:r>
              <a:rPr lang="en-US" sz="1800" dirty="0">
                <a:solidFill>
                  <a:srgbClr val="222222"/>
                </a:solidFill>
              </a:rPr>
              <a:t>Competitive pressure addressed by superior customer experience and local focus</a:t>
            </a:r>
            <a:endParaRPr lang="en-US" sz="1800" dirty="0"/>
          </a:p>
          <a:p>
            <a:pPr marL="203200" indent="-203200">
              <a:buSzPct val="100000"/>
              <a:buChar char="•"/>
            </a:pPr>
            <a:r>
              <a:rPr lang="en-US" sz="1800" dirty="0">
                <a:solidFill>
                  <a:srgbClr val="222222"/>
                </a:solidFill>
              </a:rPr>
              <a:t>Complete company incorporation and legal registrations</a:t>
            </a:r>
            <a:endParaRPr lang="en-US" sz="1800" dirty="0"/>
          </a:p>
          <a:p>
            <a:pPr marL="203200" indent="-203200">
              <a:buSzPct val="100000"/>
              <a:buChar char="•"/>
            </a:pPr>
            <a:r>
              <a:rPr lang="en-US" sz="1800" dirty="0">
                <a:solidFill>
                  <a:srgbClr val="222222"/>
                </a:solidFill>
              </a:rPr>
              <a:t>Develop and launch MVP mobile app with subscription functionality</a:t>
            </a:r>
            <a:endParaRPr lang="en-US" sz="1800" dirty="0"/>
          </a:p>
          <a:p>
            <a:pPr marL="203200" indent="-203200">
              <a:buSzPct val="100000"/>
              <a:buChar char="•"/>
            </a:pPr>
            <a:r>
              <a:rPr lang="en-US" sz="1800" dirty="0">
                <a:solidFill>
                  <a:srgbClr val="222222"/>
                </a:solidFill>
              </a:rPr>
              <a:t>Onboard at least 3 local organic dairy farms as suppliers</a:t>
            </a:r>
            <a:endParaRPr lang="en-US" sz="1800" dirty="0"/>
          </a:p>
          <a:p>
            <a:pPr marL="203200" indent="-203200">
              <a:buSzPct val="100000"/>
              <a:buChar char="•"/>
            </a:pPr>
            <a:r>
              <a:rPr lang="en-US" sz="1800" dirty="0">
                <a:solidFill>
                  <a:srgbClr val="222222"/>
                </a:solidFill>
              </a:rPr>
              <a:t>Acquire first 100 paying subscribers through targeted marketing</a:t>
            </a:r>
            <a:endParaRPr lang="en-US" sz="1800" dirty="0"/>
          </a:p>
          <a:p>
            <a:pPr marL="203200" indent="-203200">
              <a:buSzPct val="100000"/>
              <a:buChar char="•"/>
            </a:pPr>
            <a:r>
              <a:rPr lang="en-US" sz="1800" dirty="0">
                <a:solidFill>
                  <a:srgbClr val="222222"/>
                </a:solidFill>
              </a:rPr>
              <a:t>Set up delivery operations and quality control processes</a:t>
            </a:r>
            <a:endParaRPr lang="en-US" sz="1800" dirty="0"/>
          </a:p>
          <a:p>
            <a:pPr marL="203200" indent="-203200">
              <a:buSzPct val="100000"/>
              <a:buChar char="•"/>
            </a:pPr>
            <a:r>
              <a:rPr lang="en-US" sz="1800" dirty="0">
                <a:solidFill>
                  <a:srgbClr val="222222"/>
                </a:solidFill>
              </a:rPr>
              <a:t>Establish bookkeeping and compliance routines with CA support</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365760" y="182880"/>
            <a:ext cx="11155680" cy="457200"/>
          </a:xfrm>
          <a:prstGeom prst="rect">
            <a:avLst/>
          </a:prstGeom>
          <a:noFill/>
          <a:ln/>
        </p:spPr>
        <p:txBody>
          <a:bodyPr wrap="square" rtlCol="0" anchor="ctr"/>
          <a:lstStyle/>
          <a:p>
            <a:pPr indent="0" marL="0">
              <a:buNone/>
            </a:pPr>
            <a:r>
              <a:rPr lang="en-US" sz="2400" b="1" dirty="0">
                <a:solidFill>
                  <a:srgbClr val="0B4F6C"/>
                </a:solidFill>
              </a:rPr>
              <a:t>Investor Pitch Summary</a:t>
            </a:r>
            <a:endParaRPr lang="en-US" sz="2400" dirty="0"/>
          </a:p>
        </p:txBody>
      </p:sp>
      <p:sp>
        <p:nvSpPr>
          <p:cNvPr id="3" name="Text 1"/>
          <p:cNvSpPr/>
          <p:nvPr/>
        </p:nvSpPr>
        <p:spPr>
          <a:xfrm>
            <a:off x="640080" y="1005840"/>
            <a:ext cx="10789920" cy="5303520"/>
          </a:xfrm>
          <a:prstGeom prst="rect">
            <a:avLst/>
          </a:prstGeom>
          <a:noFill/>
          <a:ln/>
        </p:spPr>
        <p:txBody>
          <a:bodyPr wrap="square" rtlCol="0" anchor="ctr"/>
          <a:lstStyle/>
          <a:p>
            <a:pPr marL="203200" indent="-203200">
              <a:buSzPct val="100000"/>
              <a:buChar char="•"/>
            </a:pPr>
            <a:r>
              <a:rPr lang="en-US" sz="1800" dirty="0">
                <a:solidFill>
                  <a:srgbClr val="222222"/>
                </a:solidFill>
              </a:rPr>
              <a:t>Problem &amp; Market Opportunity - Highlight Pune's organic milk demand gap and growth potential</a:t>
            </a:r>
            <a:endParaRPr lang="en-US" sz="1800" dirty="0"/>
          </a:p>
          <a:p>
            <a:pPr marL="203200" indent="-203200">
              <a:buSzPct val="100000"/>
              <a:buChar char="•"/>
            </a:pPr>
            <a:r>
              <a:rPr lang="en-US" sz="1800" dirty="0">
                <a:solidFill>
                  <a:srgbClr val="222222"/>
                </a:solidFill>
              </a:rPr>
              <a:t>Solution &amp; Product - Demo app features and subscription plans</a:t>
            </a:r>
            <a:endParaRPr lang="en-US" sz="1800" dirty="0"/>
          </a:p>
          <a:p>
            <a:pPr marL="203200" indent="-203200">
              <a:buSzPct val="100000"/>
              <a:buChar char="•"/>
            </a:pPr>
            <a:r>
              <a:rPr lang="en-US" sz="1800" dirty="0">
                <a:solidFill>
                  <a:srgbClr val="222222"/>
                </a:solidFill>
              </a:rPr>
              <a:t>Business Model &amp; Unit Economics - Revenue streams, pricing, CAC, margins</a:t>
            </a:r>
            <a:endParaRPr lang="en-US" sz="1800" dirty="0"/>
          </a:p>
          <a:p>
            <a:pPr marL="203200" indent="-203200">
              <a:buSzPct val="100000"/>
              <a:buChar char="•"/>
            </a:pPr>
            <a:r>
              <a:rPr lang="en-US" sz="1800" dirty="0">
                <a:solidFill>
                  <a:srgbClr val="222222"/>
                </a:solidFill>
              </a:rPr>
              <a:t>Go-To-Market Strategy - Target segment, acquisition channel, onboarding funnel</a:t>
            </a:r>
            <a:endParaRPr lang="en-US" sz="1800" dirty="0"/>
          </a:p>
          <a:p>
            <a:pPr marL="203200" indent="-203200">
              <a:buSzPct val="100000"/>
              <a:buChar char="•"/>
            </a:pPr>
            <a:r>
              <a:rPr lang="en-US" sz="1800" dirty="0">
                <a:solidFill>
                  <a:srgbClr val="222222"/>
                </a:solidFill>
              </a:rPr>
              <a:t>Operations &amp; Team - Workflow, supplier partnerships, delivery logistics</a:t>
            </a:r>
            <a:endParaRPr lang="en-US" sz="1800" dirty="0"/>
          </a:p>
          <a:p>
            <a:pPr marL="203200" indent="-203200">
              <a:buSzPct val="100000"/>
              <a:buChar char="•"/>
            </a:pPr>
            <a:r>
              <a:rPr lang="en-US" sz="1800" dirty="0">
                <a:solidFill>
                  <a:srgbClr val="222222"/>
                </a:solidFill>
              </a:rPr>
              <a:t>Financial Projections - 12-month revenue, burn, break-even scenarios</a:t>
            </a:r>
            <a:endParaRPr lang="en-US" sz="1800" dirty="0"/>
          </a:p>
          <a:p>
            <a:pPr marL="203200" indent="-203200">
              <a:buSzPct val="100000"/>
              <a:buChar char="•"/>
            </a:pPr>
            <a:r>
              <a:rPr lang="en-US" sz="1800" dirty="0">
                <a:solidFill>
                  <a:srgbClr val="222222"/>
                </a:solidFill>
              </a:rPr>
              <a:t>Legal &amp; Compliance - Registrations, licenses, risk mitigation</a:t>
            </a:r>
            <a:endParaRPr lang="en-US" sz="1800" dirty="0"/>
          </a:p>
          <a:p>
            <a:pPr marL="203200" indent="-203200">
              <a:buSzPct val="100000"/>
              <a:buChar char="•"/>
            </a:pPr>
            <a:r>
              <a:rPr lang="en-US" sz="1800" dirty="0">
                <a:solidFill>
                  <a:srgbClr val="222222"/>
                </a:solidFill>
              </a:rPr>
              <a:t>Roadmap &amp; Milestones - 90-day plan and growth targets</a:t>
            </a:r>
            <a:endParaRPr lang="en-US" sz="1800" dirty="0"/>
          </a:p>
          <a:p>
            <a:pPr marL="203200" indent="-203200">
              <a:buSzPct val="100000"/>
              <a:buChar char="•"/>
            </a:pPr>
            <a:r>
              <a:rPr lang="en-US" sz="1800" dirty="0">
                <a:solidFill>
                  <a:srgbClr val="222222"/>
                </a:solidFill>
              </a:rPr>
              <a:t>Ask &amp; Use of Funds - Budget allocation and expected impact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Organic Milk Delivery App with Subscription Plans - Pune</dc:title>
  <dc:subject>Startup Blueprint</dc:subject>
  <dc:creator>StartGenie AI</dc:creator>
  <cp:lastModifiedBy>StartGenie AI</cp:lastModifiedBy>
  <cp:revision>1</cp:revision>
  <dcterms:created xsi:type="dcterms:W3CDTF">2026-03-11T17:55:16Z</dcterms:created>
  <dcterms:modified xsi:type="dcterms:W3CDTF">2026-03-11T17:55:16Z</dcterms:modified>
</cp:coreProperties>
</file>